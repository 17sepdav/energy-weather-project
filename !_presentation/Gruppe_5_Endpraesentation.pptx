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2" r:id="rId5"/>
    <p:sldId id="259" r:id="rId6"/>
    <p:sldId id="260" r:id="rId7"/>
    <p:sldId id="261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A1CA0F1-7538-4080-8FFC-40403DEAD326}" v="8" dt="2026-05-18T15:09:49.4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ppi David" userId="65a3a15c-de28-4124-b264-5a951b56f15e" providerId="ADAL" clId="{C91FF2B7-B9AA-4EE8-8194-C498C63FA2C8}"/>
    <pc:docChg chg="undo custSel addSld delSld modSld">
      <pc:chgData name="Seppi David" userId="65a3a15c-de28-4124-b264-5a951b56f15e" providerId="ADAL" clId="{C91FF2B7-B9AA-4EE8-8194-C498C63FA2C8}" dt="2026-05-18T15:11:44.138" v="189" actId="20577"/>
      <pc:docMkLst>
        <pc:docMk/>
      </pc:docMkLst>
      <pc:sldChg chg="addSp modSp mod">
        <pc:chgData name="Seppi David" userId="65a3a15c-de28-4124-b264-5a951b56f15e" providerId="ADAL" clId="{C91FF2B7-B9AA-4EE8-8194-C498C63FA2C8}" dt="2026-05-18T15:10:39.202" v="102" actId="1076"/>
        <pc:sldMkLst>
          <pc:docMk/>
          <pc:sldMk cId="0" sldId="256"/>
        </pc:sldMkLst>
        <pc:spChg chg="mod">
          <ac:chgData name="Seppi David" userId="65a3a15c-de28-4124-b264-5a951b56f15e" providerId="ADAL" clId="{C91FF2B7-B9AA-4EE8-8194-C498C63FA2C8}" dt="2026-05-18T07:18:31.080" v="0"/>
          <ac:spMkLst>
            <pc:docMk/>
            <pc:sldMk cId="0" sldId="256"/>
            <ac:spMk id="8" creationId="{00000000-0000-0000-0000-000000000000}"/>
          </ac:spMkLst>
        </pc:spChg>
        <pc:spChg chg="mod">
          <ac:chgData name="Seppi David" userId="65a3a15c-de28-4124-b264-5a951b56f15e" providerId="ADAL" clId="{C91FF2B7-B9AA-4EE8-8194-C498C63FA2C8}" dt="2026-05-18T07:19:17.155" v="19" actId="20577"/>
          <ac:spMkLst>
            <pc:docMk/>
            <pc:sldMk cId="0" sldId="256"/>
            <ac:spMk id="10" creationId="{00000000-0000-0000-0000-000000000000}"/>
          </ac:spMkLst>
        </pc:spChg>
        <pc:spChg chg="mod">
          <ac:chgData name="Seppi David" userId="65a3a15c-de28-4124-b264-5a951b56f15e" providerId="ADAL" clId="{C91FF2B7-B9AA-4EE8-8194-C498C63FA2C8}" dt="2026-05-18T07:19:12.572" v="17" actId="20577"/>
          <ac:spMkLst>
            <pc:docMk/>
            <pc:sldMk cId="0" sldId="256"/>
            <ac:spMk id="12" creationId="{00000000-0000-0000-0000-000000000000}"/>
          </ac:spMkLst>
        </pc:spChg>
        <pc:picChg chg="add mod">
          <ac:chgData name="Seppi David" userId="65a3a15c-de28-4124-b264-5a951b56f15e" providerId="ADAL" clId="{C91FF2B7-B9AA-4EE8-8194-C498C63FA2C8}" dt="2026-05-18T15:10:39.202" v="102" actId="1076"/>
          <ac:picMkLst>
            <pc:docMk/>
            <pc:sldMk cId="0" sldId="256"/>
            <ac:picMk id="14" creationId="{729989E1-31C6-FBEC-5AC2-421E44612E48}"/>
          </ac:picMkLst>
        </pc:picChg>
      </pc:sldChg>
      <pc:sldChg chg="addSp delSp modSp mod">
        <pc:chgData name="Seppi David" userId="65a3a15c-de28-4124-b264-5a951b56f15e" providerId="ADAL" clId="{C91FF2B7-B9AA-4EE8-8194-C498C63FA2C8}" dt="2026-05-18T14:58:02.342" v="76" actId="790"/>
        <pc:sldMkLst>
          <pc:docMk/>
          <pc:sldMk cId="0" sldId="257"/>
        </pc:sldMkLst>
        <pc:spChg chg="mod">
          <ac:chgData name="Seppi David" userId="65a3a15c-de28-4124-b264-5a951b56f15e" providerId="ADAL" clId="{C91FF2B7-B9AA-4EE8-8194-C498C63FA2C8}" dt="2026-05-18T14:57:51.354" v="67" actId="20577"/>
          <ac:spMkLst>
            <pc:docMk/>
            <pc:sldMk cId="0" sldId="257"/>
            <ac:spMk id="5" creationId="{00000000-0000-0000-0000-000000000000}"/>
          </ac:spMkLst>
        </pc:spChg>
        <pc:spChg chg="mod">
          <ac:chgData name="Seppi David" userId="65a3a15c-de28-4124-b264-5a951b56f15e" providerId="ADAL" clId="{C91FF2B7-B9AA-4EE8-8194-C498C63FA2C8}" dt="2026-05-18T14:58:02.342" v="76" actId="790"/>
          <ac:spMkLst>
            <pc:docMk/>
            <pc:sldMk cId="0" sldId="257"/>
            <ac:spMk id="8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42:25.590" v="24" actId="478"/>
          <ac:spMkLst>
            <pc:docMk/>
            <pc:sldMk cId="0" sldId="257"/>
            <ac:spMk id="17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42:25.590" v="24" actId="478"/>
          <ac:spMkLst>
            <pc:docMk/>
            <pc:sldMk cId="0" sldId="257"/>
            <ac:spMk id="18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42:25.590" v="24" actId="478"/>
          <ac:spMkLst>
            <pc:docMk/>
            <pc:sldMk cId="0" sldId="257"/>
            <ac:spMk id="19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42:25.590" v="24" actId="478"/>
          <ac:spMkLst>
            <pc:docMk/>
            <pc:sldMk cId="0" sldId="257"/>
            <ac:spMk id="20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42:25.590" v="24" actId="478"/>
          <ac:spMkLst>
            <pc:docMk/>
            <pc:sldMk cId="0" sldId="257"/>
            <ac:spMk id="21" creationId="{00000000-0000-0000-0000-000000000000}"/>
          </ac:spMkLst>
        </pc:spChg>
        <pc:spChg chg="mod">
          <ac:chgData name="Seppi David" userId="65a3a15c-de28-4124-b264-5a951b56f15e" providerId="ADAL" clId="{C91FF2B7-B9AA-4EE8-8194-C498C63FA2C8}" dt="2026-05-18T14:42:22.210" v="23" actId="1076"/>
          <ac:spMkLst>
            <pc:docMk/>
            <pc:sldMk cId="0" sldId="257"/>
            <ac:spMk id="23" creationId="{00000000-0000-0000-0000-000000000000}"/>
          </ac:spMkLst>
        </pc:spChg>
        <pc:picChg chg="add mod">
          <ac:chgData name="Seppi David" userId="65a3a15c-de28-4124-b264-5a951b56f15e" providerId="ADAL" clId="{C91FF2B7-B9AA-4EE8-8194-C498C63FA2C8}" dt="2026-05-18T14:43:30.688" v="33" actId="1076"/>
          <ac:picMkLst>
            <pc:docMk/>
            <pc:sldMk cId="0" sldId="257"/>
            <ac:picMk id="25" creationId="{7DB929A7-4F0C-63A5-18FB-A7A8A218054E}"/>
          </ac:picMkLst>
        </pc:picChg>
      </pc:sldChg>
      <pc:sldChg chg="addSp modSp mod">
        <pc:chgData name="Seppi David" userId="65a3a15c-de28-4124-b264-5a951b56f15e" providerId="ADAL" clId="{C91FF2B7-B9AA-4EE8-8194-C498C63FA2C8}" dt="2026-05-18T15:01:36.190" v="82" actId="20577"/>
        <pc:sldMkLst>
          <pc:docMk/>
          <pc:sldMk cId="0" sldId="258"/>
        </pc:sldMkLst>
        <pc:spChg chg="add mod">
          <ac:chgData name="Seppi David" userId="65a3a15c-de28-4124-b264-5a951b56f15e" providerId="ADAL" clId="{C91FF2B7-B9AA-4EE8-8194-C498C63FA2C8}" dt="2026-05-18T15:01:36.190" v="82" actId="20577"/>
          <ac:spMkLst>
            <pc:docMk/>
            <pc:sldMk cId="0" sldId="258"/>
            <ac:spMk id="19" creationId="{936C12BF-25AB-D1C0-D652-BF901E7B28E7}"/>
          </ac:spMkLst>
        </pc:spChg>
      </pc:sldChg>
      <pc:sldChg chg="addSp delSp modSp mod">
        <pc:chgData name="Seppi David" userId="65a3a15c-de28-4124-b264-5a951b56f15e" providerId="ADAL" clId="{C91FF2B7-B9AA-4EE8-8194-C498C63FA2C8}" dt="2026-05-18T15:00:53.175" v="78"/>
        <pc:sldMkLst>
          <pc:docMk/>
          <pc:sldMk cId="0" sldId="259"/>
        </pc:sldMkLst>
        <pc:spChg chg="del">
          <ac:chgData name="Seppi David" userId="65a3a15c-de28-4124-b264-5a951b56f15e" providerId="ADAL" clId="{C91FF2B7-B9AA-4EE8-8194-C498C63FA2C8}" dt="2026-05-18T14:50:10.742" v="41" actId="478"/>
          <ac:spMkLst>
            <pc:docMk/>
            <pc:sldMk cId="0" sldId="259"/>
            <ac:spMk id="5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50:10.742" v="41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50:10.742" v="41" actId="478"/>
          <ac:spMkLst>
            <pc:docMk/>
            <pc:sldMk cId="0" sldId="259"/>
            <ac:spMk id="7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50:10.742" v="41" actId="478"/>
          <ac:spMkLst>
            <pc:docMk/>
            <pc:sldMk cId="0" sldId="259"/>
            <ac:spMk id="8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50:10.742" v="41" actId="478"/>
          <ac:spMkLst>
            <pc:docMk/>
            <pc:sldMk cId="0" sldId="259"/>
            <ac:spMk id="9" creationId="{00000000-0000-0000-0000-000000000000}"/>
          </ac:spMkLst>
        </pc:spChg>
        <pc:spChg chg="mod">
          <ac:chgData name="Seppi David" userId="65a3a15c-de28-4124-b264-5a951b56f15e" providerId="ADAL" clId="{C91FF2B7-B9AA-4EE8-8194-C498C63FA2C8}" dt="2026-05-18T15:00:43.356" v="77"/>
          <ac:spMkLst>
            <pc:docMk/>
            <pc:sldMk cId="0" sldId="259"/>
            <ac:spMk id="17" creationId="{00000000-0000-0000-0000-000000000000}"/>
          </ac:spMkLst>
        </pc:spChg>
        <pc:spChg chg="mod">
          <ac:chgData name="Seppi David" userId="65a3a15c-de28-4124-b264-5a951b56f15e" providerId="ADAL" clId="{C91FF2B7-B9AA-4EE8-8194-C498C63FA2C8}" dt="2026-05-18T15:00:53.175" v="78"/>
          <ac:spMkLst>
            <pc:docMk/>
            <pc:sldMk cId="0" sldId="259"/>
            <ac:spMk id="18" creationId="{00000000-0000-0000-0000-000000000000}"/>
          </ac:spMkLst>
        </pc:spChg>
        <pc:picChg chg="add mod">
          <ac:chgData name="Seppi David" userId="65a3a15c-de28-4124-b264-5a951b56f15e" providerId="ADAL" clId="{C91FF2B7-B9AA-4EE8-8194-C498C63FA2C8}" dt="2026-05-18T14:53:33.654" v="53" actId="962"/>
          <ac:picMkLst>
            <pc:docMk/>
            <pc:sldMk cId="0" sldId="259"/>
            <ac:picMk id="22" creationId="{CF0DBFBA-75F2-B4D2-E2AB-3EF35855AC07}"/>
          </ac:picMkLst>
        </pc:picChg>
      </pc:sldChg>
      <pc:sldChg chg="addSp delSp modSp mod">
        <pc:chgData name="Seppi David" userId="65a3a15c-de28-4124-b264-5a951b56f15e" providerId="ADAL" clId="{C91FF2B7-B9AA-4EE8-8194-C498C63FA2C8}" dt="2026-05-18T15:01:17.259" v="79" actId="108"/>
        <pc:sldMkLst>
          <pc:docMk/>
          <pc:sldMk cId="0" sldId="260"/>
        </pc:sldMkLst>
        <pc:spChg chg="del">
          <ac:chgData name="Seppi David" userId="65a3a15c-de28-4124-b264-5a951b56f15e" providerId="ADAL" clId="{C91FF2B7-B9AA-4EE8-8194-C498C63FA2C8}" dt="2026-05-18T14:53:26.299" v="49" actId="478"/>
          <ac:spMkLst>
            <pc:docMk/>
            <pc:sldMk cId="0" sldId="260"/>
            <ac:spMk id="5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53:26.299" v="49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53:26.299" v="49" actId="478"/>
          <ac:spMkLst>
            <pc:docMk/>
            <pc:sldMk cId="0" sldId="260"/>
            <ac:spMk id="7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53:26.299" v="49" actId="478"/>
          <ac:spMkLst>
            <pc:docMk/>
            <pc:sldMk cId="0" sldId="260"/>
            <ac:spMk id="8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53:26.299" v="49" actId="478"/>
          <ac:spMkLst>
            <pc:docMk/>
            <pc:sldMk cId="0" sldId="260"/>
            <ac:spMk id="9" creationId="{00000000-0000-0000-0000-000000000000}"/>
          </ac:spMkLst>
        </pc:spChg>
        <pc:spChg chg="mod">
          <ac:chgData name="Seppi David" userId="65a3a15c-de28-4124-b264-5a951b56f15e" providerId="ADAL" clId="{C91FF2B7-B9AA-4EE8-8194-C498C63FA2C8}" dt="2026-05-18T15:01:17.259" v="79" actId="108"/>
          <ac:spMkLst>
            <pc:docMk/>
            <pc:sldMk cId="0" sldId="260"/>
            <ac:spMk id="14" creationId="{00000000-0000-0000-0000-000000000000}"/>
          </ac:spMkLst>
        </pc:spChg>
        <pc:spChg chg="mod">
          <ac:chgData name="Seppi David" userId="65a3a15c-de28-4124-b264-5a951b56f15e" providerId="ADAL" clId="{C91FF2B7-B9AA-4EE8-8194-C498C63FA2C8}" dt="2026-05-18T14:56:09.500" v="60" actId="108"/>
          <ac:spMkLst>
            <pc:docMk/>
            <pc:sldMk cId="0" sldId="260"/>
            <ac:spMk id="17" creationId="{00000000-0000-0000-0000-000000000000}"/>
          </ac:spMkLst>
        </pc:spChg>
        <pc:spChg chg="mod">
          <ac:chgData name="Seppi David" userId="65a3a15c-de28-4124-b264-5a951b56f15e" providerId="ADAL" clId="{C91FF2B7-B9AA-4EE8-8194-C498C63FA2C8}" dt="2026-05-18T14:56:37.437" v="62" actId="108"/>
          <ac:spMkLst>
            <pc:docMk/>
            <pc:sldMk cId="0" sldId="260"/>
            <ac:spMk id="18" creationId="{00000000-0000-0000-0000-000000000000}"/>
          </ac:spMkLst>
        </pc:spChg>
        <pc:spChg chg="mod">
          <ac:chgData name="Seppi David" userId="65a3a15c-de28-4124-b264-5a951b56f15e" providerId="ADAL" clId="{C91FF2B7-B9AA-4EE8-8194-C498C63FA2C8}" dt="2026-05-18T14:54:08.270" v="56" actId="1076"/>
          <ac:spMkLst>
            <pc:docMk/>
            <pc:sldMk cId="0" sldId="260"/>
            <ac:spMk id="19" creationId="{00000000-0000-0000-0000-000000000000}"/>
          </ac:spMkLst>
        </pc:spChg>
        <pc:picChg chg="add mod">
          <ac:chgData name="Seppi David" userId="65a3a15c-de28-4124-b264-5a951b56f15e" providerId="ADAL" clId="{C91FF2B7-B9AA-4EE8-8194-C498C63FA2C8}" dt="2026-05-18T14:53:58.092" v="55" actId="1076"/>
          <ac:picMkLst>
            <pc:docMk/>
            <pc:sldMk cId="0" sldId="260"/>
            <ac:picMk id="23" creationId="{76E5E292-7529-043F-2596-445F87B83B54}"/>
          </ac:picMkLst>
        </pc:picChg>
      </pc:sldChg>
      <pc:sldChg chg="addSp delSp modSp mod">
        <pc:chgData name="Seppi David" userId="65a3a15c-de28-4124-b264-5a951b56f15e" providerId="ADAL" clId="{C91FF2B7-B9AA-4EE8-8194-C498C63FA2C8}" dt="2026-05-18T14:47:21.976" v="40" actId="14100"/>
        <pc:sldMkLst>
          <pc:docMk/>
          <pc:sldMk cId="0" sldId="262"/>
        </pc:sldMkLst>
        <pc:spChg chg="mod">
          <ac:chgData name="Seppi David" userId="65a3a15c-de28-4124-b264-5a951b56f15e" providerId="ADAL" clId="{C91FF2B7-B9AA-4EE8-8194-C498C63FA2C8}" dt="2026-05-18T14:44:08.863" v="34" actId="6549"/>
          <ac:spMkLst>
            <pc:docMk/>
            <pc:sldMk cId="0" sldId="262"/>
            <ac:spMk id="4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44:33.668" v="35" actId="478"/>
          <ac:spMkLst>
            <pc:docMk/>
            <pc:sldMk cId="0" sldId="262"/>
            <ac:spMk id="5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44:33.668" v="35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44:33.668" v="35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44:33.668" v="35" actId="478"/>
          <ac:spMkLst>
            <pc:docMk/>
            <pc:sldMk cId="0" sldId="262"/>
            <ac:spMk id="8" creationId="{00000000-0000-0000-0000-000000000000}"/>
          </ac:spMkLst>
        </pc:spChg>
        <pc:spChg chg="del">
          <ac:chgData name="Seppi David" userId="65a3a15c-de28-4124-b264-5a951b56f15e" providerId="ADAL" clId="{C91FF2B7-B9AA-4EE8-8194-C498C63FA2C8}" dt="2026-05-18T14:44:33.668" v="35" actId="478"/>
          <ac:spMkLst>
            <pc:docMk/>
            <pc:sldMk cId="0" sldId="262"/>
            <ac:spMk id="9" creationId="{00000000-0000-0000-0000-000000000000}"/>
          </ac:spMkLst>
        </pc:spChg>
        <pc:picChg chg="add mod">
          <ac:chgData name="Seppi David" userId="65a3a15c-de28-4124-b264-5a951b56f15e" providerId="ADAL" clId="{C91FF2B7-B9AA-4EE8-8194-C498C63FA2C8}" dt="2026-05-18T14:47:21.976" v="40" actId="14100"/>
          <ac:picMkLst>
            <pc:docMk/>
            <pc:sldMk cId="0" sldId="262"/>
            <ac:picMk id="22" creationId="{25F176FA-7097-778F-7902-E9CC457D3C9F}"/>
          </ac:picMkLst>
        </pc:picChg>
      </pc:sldChg>
      <pc:sldChg chg="add del">
        <pc:chgData name="Seppi David" userId="65a3a15c-de28-4124-b264-5a951b56f15e" providerId="ADAL" clId="{C91FF2B7-B9AA-4EE8-8194-C498C63FA2C8}" dt="2026-05-18T07:19:43.538" v="21" actId="47"/>
        <pc:sldMkLst>
          <pc:docMk/>
          <pc:sldMk cId="1099349263" sldId="262"/>
        </pc:sldMkLst>
      </pc:sldChg>
      <pc:sldChg chg="add del">
        <pc:chgData name="Seppi David" userId="65a3a15c-de28-4124-b264-5a951b56f15e" providerId="ADAL" clId="{C91FF2B7-B9AA-4EE8-8194-C498C63FA2C8}" dt="2026-05-18T15:07:47.744" v="85"/>
        <pc:sldMkLst>
          <pc:docMk/>
          <pc:sldMk cId="29588901" sldId="263"/>
        </pc:sldMkLst>
      </pc:sldChg>
      <pc:sldChg chg="addSp modSp add mod">
        <pc:chgData name="Seppi David" userId="65a3a15c-de28-4124-b264-5a951b56f15e" providerId="ADAL" clId="{C91FF2B7-B9AA-4EE8-8194-C498C63FA2C8}" dt="2026-05-18T15:11:44.138" v="189" actId="20577"/>
        <pc:sldMkLst>
          <pc:docMk/>
          <pc:sldMk cId="1721568510" sldId="264"/>
        </pc:sldMkLst>
        <pc:spChg chg="mod">
          <ac:chgData name="Seppi David" userId="65a3a15c-de28-4124-b264-5a951b56f15e" providerId="ADAL" clId="{C91FF2B7-B9AA-4EE8-8194-C498C63FA2C8}" dt="2026-05-18T15:09:59.291" v="90" actId="14100"/>
          <ac:spMkLst>
            <pc:docMk/>
            <pc:sldMk cId="1721568510" sldId="264"/>
            <ac:spMk id="6" creationId="{00000000-0000-0000-0000-000000000000}"/>
          </ac:spMkLst>
        </pc:spChg>
        <pc:spChg chg="mod">
          <ac:chgData name="Seppi David" userId="65a3a15c-de28-4124-b264-5a951b56f15e" providerId="ADAL" clId="{C91FF2B7-B9AA-4EE8-8194-C498C63FA2C8}" dt="2026-05-18T15:11:44.138" v="189" actId="20577"/>
          <ac:spMkLst>
            <pc:docMk/>
            <pc:sldMk cId="1721568510" sldId="264"/>
            <ac:spMk id="8" creationId="{00000000-0000-0000-0000-000000000000}"/>
          </ac:spMkLst>
        </pc:spChg>
        <pc:picChg chg="add mod">
          <ac:chgData name="Seppi David" userId="65a3a15c-de28-4124-b264-5a951b56f15e" providerId="ADAL" clId="{C91FF2B7-B9AA-4EE8-8194-C498C63FA2C8}" dt="2026-05-18T15:10:54.636" v="105" actId="1076"/>
          <ac:picMkLst>
            <pc:docMk/>
            <pc:sldMk cId="1721568510" sldId="264"/>
            <ac:picMk id="12" creationId="{B787811C-2932-1CA3-E41E-9D85F978A9B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8123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8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73152" cy="731520"/>
          </a:xfrm>
          <a:prstGeom prst="rect">
            <a:avLst/>
          </a:prstGeom>
          <a:solidFill>
            <a:srgbClr val="2E7DC1"/>
          </a:solidFill>
          <a:ln w="12700">
            <a:solidFill>
              <a:srgbClr val="2E7DC1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3" name="Text 1"/>
          <p:cNvSpPr/>
          <p:nvPr/>
        </p:nvSpPr>
        <p:spPr>
          <a:xfrm>
            <a:off x="777240" y="548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BCD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BRIEF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das Wetter unseren Stromverbrauch steuert,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BCD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wie wir das nutzen können.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BCD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datenbasierte Entscheidungsgrundlage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5943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217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v-SE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Laurin Honegger; Mic Merian-Genast; David Seppi</a:t>
            </a:r>
          </a:p>
        </p:txBody>
      </p:sp>
      <p:sp>
        <p:nvSpPr>
          <p:cNvPr id="9" name="Text 7"/>
          <p:cNvSpPr/>
          <p:nvPr/>
        </p:nvSpPr>
        <p:spPr>
          <a:xfrm>
            <a:off x="5029200" y="5943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6217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02.06.2026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0" y="5943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0" y="6217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</a:t>
            </a:r>
            <a:endParaRPr lang="en-US" sz="1400" dirty="0"/>
          </a:p>
        </p:txBody>
      </p:sp>
      <p:pic>
        <p:nvPicPr>
          <p:cNvPr id="14" name="Grafik 13" descr="The image depicts a blue cloud with a silhouette of a tall, metallic electricity transmission tower with multiple crossbars.&#10;&#10;KI-generierte Inhalte können fehlerhaft sein.">
            <a:extLst>
              <a:ext uri="{FF2B5EF4-FFF2-40B4-BE49-F238E27FC236}">
                <a16:creationId xmlns:a16="http://schemas.microsoft.com/office/drawing/2014/main" id="{729989E1-31C6-FBEC-5AC2-421E44612E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86912"/>
            <a:ext cx="2924447" cy="18378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AUSGANGSLAGE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Stromverbrauch ist nicht zufällig: er folgt dem Wetter.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das Muster kennt, kann planen statt reagieren.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" y="1920240"/>
            <a:ext cx="3657600" cy="192024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IT" dirty="0"/>
          </a:p>
        </p:txBody>
      </p:sp>
      <p:sp>
        <p:nvSpPr>
          <p:cNvPr id="6" name="Shape 4"/>
          <p:cNvSpPr/>
          <p:nvPr/>
        </p:nvSpPr>
        <p:spPr>
          <a:xfrm>
            <a:off x="411480" y="1920240"/>
            <a:ext cx="3657600" cy="73152"/>
          </a:xfrm>
          <a:prstGeom prst="rect">
            <a:avLst/>
          </a:prstGeom>
          <a:solidFill>
            <a:srgbClr val="2E7DC1"/>
          </a:solidFill>
          <a:ln w="12700">
            <a:solidFill>
              <a:srgbClr val="2E7DC1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7" name="Text 5"/>
          <p:cNvSpPr/>
          <p:nvPr/>
        </p:nvSpPr>
        <p:spPr>
          <a:xfrm>
            <a:off x="411480" y="2194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+11 %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11480" y="30175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 err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Verbrauch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 Winter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gegenüber Sommer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920240"/>
            <a:ext cx="3657600" cy="192024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10" name="Shape 8"/>
          <p:cNvSpPr/>
          <p:nvPr/>
        </p:nvSpPr>
        <p:spPr>
          <a:xfrm>
            <a:off x="4251960" y="1920240"/>
            <a:ext cx="3657600" cy="73152"/>
          </a:xfrm>
          <a:prstGeom prst="rect">
            <a:avLst/>
          </a:prstGeom>
          <a:solidFill>
            <a:srgbClr val="2E7DC1"/>
          </a:solidFill>
          <a:ln w="12700">
            <a:solidFill>
              <a:srgbClr val="2E7DC1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11" name="Text 9"/>
          <p:cNvSpPr/>
          <p:nvPr/>
        </p:nvSpPr>
        <p:spPr>
          <a:xfrm>
            <a:off x="4251960" y="2194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96 000+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251960" y="30175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stündliche Datenpunkte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seit 2015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2440" y="1920240"/>
            <a:ext cx="3657600" cy="1920240"/>
          </a:xfrm>
          <a:prstGeom prst="rect">
            <a:avLst/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14" name="Shape 12"/>
          <p:cNvSpPr/>
          <p:nvPr/>
        </p:nvSpPr>
        <p:spPr>
          <a:xfrm>
            <a:off x="8092440" y="1920240"/>
            <a:ext cx="3657600" cy="73152"/>
          </a:xfrm>
          <a:prstGeom prst="rect">
            <a:avLst/>
          </a:prstGeom>
          <a:solidFill>
            <a:srgbClr val="2E7DC1"/>
          </a:solidFill>
          <a:ln w="12700">
            <a:solidFill>
              <a:srgbClr val="2E7DC1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15" name="Text 13"/>
          <p:cNvSpPr/>
          <p:nvPr/>
        </p:nvSpPr>
        <p:spPr>
          <a:xfrm>
            <a:off x="8092440" y="2194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092440" y="30175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einheitlich vergleichbar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Energy-Weather Project  ·  Management Brief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642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  <p:pic>
        <p:nvPicPr>
          <p:cNvPr id="25" name="Grafik 24" descr="The graph illustrates a downward trend in megawatt-hours (MWh) of consumption from 4.0 million in 2016 to 2.0 million in 2024.&#10;&#10;KI-generierte Inhalte können fehlerhaft sein.">
            <a:extLst>
              <a:ext uri="{FF2B5EF4-FFF2-40B4-BE49-F238E27FC236}">
                <a16:creationId xmlns:a16="http://schemas.microsoft.com/office/drawing/2014/main" id="{7DB929A7-4F0C-63A5-18FB-A7A8A2180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034" y="3973903"/>
            <a:ext cx="9715931" cy="24726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DATENGRUNDLAGE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Aufgebaut auf öffentlichen Schweizer Daten.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seriöse Quellen, stündlich kombiniert, reproduzierbar aufbereitet.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280160" y="2011680"/>
            <a:ext cx="45720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IT"/>
          </a:p>
        </p:txBody>
      </p:sp>
      <p:sp>
        <p:nvSpPr>
          <p:cNvPr id="6" name="Shape 4"/>
          <p:cNvSpPr/>
          <p:nvPr/>
        </p:nvSpPr>
        <p:spPr>
          <a:xfrm>
            <a:off x="1280160" y="2011680"/>
            <a:ext cx="109728" cy="2560320"/>
          </a:xfrm>
          <a:prstGeom prst="rect">
            <a:avLst/>
          </a:prstGeom>
          <a:solidFill>
            <a:srgbClr val="2E7DC1"/>
          </a:solidFill>
          <a:ln w="12700">
            <a:solidFill>
              <a:srgbClr val="2E7DC1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7" name="Text 5"/>
          <p:cNvSpPr/>
          <p:nvPr/>
        </p:nvSpPr>
        <p:spPr>
          <a:xfrm>
            <a:off x="1600200" y="2286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STROMVERBRAUCH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00200" y="26517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Swissgrid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00200" y="35661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Offizielle Schweizer Netzbetreiberdaten, stündlich pro Region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2011680"/>
            <a:ext cx="45720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IT"/>
          </a:p>
        </p:txBody>
      </p:sp>
      <p:sp>
        <p:nvSpPr>
          <p:cNvPr id="11" name="Shape 9"/>
          <p:cNvSpPr/>
          <p:nvPr/>
        </p:nvSpPr>
        <p:spPr>
          <a:xfrm>
            <a:off x="6309360" y="2011680"/>
            <a:ext cx="109728" cy="2560320"/>
          </a:xfrm>
          <a:prstGeom prst="rect">
            <a:avLst/>
          </a:prstGeom>
          <a:solidFill>
            <a:srgbClr val="2E7DC1"/>
          </a:solidFill>
          <a:ln w="12700">
            <a:solidFill>
              <a:srgbClr val="2E7DC1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12" name="Text 10"/>
          <p:cNvSpPr/>
          <p:nvPr/>
        </p:nvSpPr>
        <p:spPr>
          <a:xfrm>
            <a:off x="6629400" y="2286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29400" y="26517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MeteoSchweiz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629400" y="35661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Stündliche Messungen: Temperatur, Feuchte, Strahlung, Wind, Druck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623560" y="4617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2377440" y="5212080"/>
            <a:ext cx="740664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17" name="Text 15"/>
          <p:cNvSpPr/>
          <p:nvPr/>
        </p:nvSpPr>
        <p:spPr>
          <a:xfrm>
            <a:off x="2377440" y="521208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Jahre  ·  7 Regionen  ·  Stündlich  ·  Interaktives Dashboard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und Code öffentlich auf GitHub dokumentiert</a:t>
            </a:r>
            <a:endParaRPr lang="en-US" sz="1000" dirty="0"/>
          </a:p>
        </p:txBody>
      </p:sp>
      <p:sp>
        <p:nvSpPr>
          <p:cNvPr id="19" name="Text 21">
            <a:extLst>
              <a:ext uri="{FF2B5EF4-FFF2-40B4-BE49-F238E27FC236}">
                <a16:creationId xmlns:a16="http://schemas.microsoft.com/office/drawing/2014/main" id="{936C12BF-25AB-D1C0-D652-BF901E7B28E7}"/>
              </a:ext>
            </a:extLst>
          </p:cNvPr>
          <p:cNvSpPr/>
          <p:nvPr/>
        </p:nvSpPr>
        <p:spPr>
          <a:xfrm>
            <a:off x="110642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REGIONALE PERSPEKTIVE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Schweiz auf einen Blick.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wir messen, wer wie </a:t>
            </a:r>
            <a:r>
              <a:rPr lang="en-US" sz="15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verbraucht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wo es am kältesten ist.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DIE KARTE ZEIGT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Punktgrösse = Verbrauch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55280" y="2697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Grössere Kreise zeigen, wo am meisten Strom gebraucht wird.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55280" y="3429000"/>
            <a:ext cx="36576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14" name="Text 12"/>
          <p:cNvSpPr/>
          <p:nvPr/>
        </p:nvSpPr>
        <p:spPr>
          <a:xfrm>
            <a:off x="795528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Punktfarbe = Temperatur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55280" y="3977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 heisst wärmer, Blau heisst kälter im Jahresdurchschnitt.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55280" y="4709160"/>
            <a:ext cx="36576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17" name="Text 15"/>
          <p:cNvSpPr/>
          <p:nvPr/>
        </p:nvSpPr>
        <p:spPr>
          <a:xfrm>
            <a:off x="7955280" y="4846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&amp; Klima auf einen Blick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955280" y="52578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Verbrauch und Temperatur unterscheiden sich regional deutlich.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Energy-Weather Project  ·  Management Brief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642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  <p:pic>
        <p:nvPicPr>
          <p:cNvPr id="22" name="Grafik 21" descr="The image appears to be a map overlay showing various locations and routes, possibly a road or train network, with different colors indicating different types of data or information.&#10;&#10;KI-generierte Inhalte können fehlerhaft sein.">
            <a:extLst>
              <a:ext uri="{FF2B5EF4-FFF2-40B4-BE49-F238E27FC236}">
                <a16:creationId xmlns:a16="http://schemas.microsoft.com/office/drawing/2014/main" id="{25F176FA-7097-778F-7902-E9CC457D3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747" y="1773065"/>
            <a:ext cx="7048630" cy="45873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KERN-INSIGHT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kälter, desto höher der Verbrauch.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quantifizierbarer Zusammenhang, der die Verbrauchsschwankung weitgehend erklärt.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DIE DATEN ZEIGEN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Winter: linear vorhersagbar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55280" y="2697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Jedes Grad weniger bedeutet messbar mehr Verbrauch.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55280" y="3429000"/>
            <a:ext cx="36576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14" name="Text 12"/>
          <p:cNvSpPr/>
          <p:nvPr/>
        </p:nvSpPr>
        <p:spPr>
          <a:xfrm>
            <a:off x="795528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Sommer: schwächer, teils gegenläufig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55280" y="3977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Klimaanlagen werden zum neuen, gegenläufigen Faktor.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55280" y="4709160"/>
            <a:ext cx="36576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17" name="Text 15"/>
          <p:cNvSpPr/>
          <p:nvPr/>
        </p:nvSpPr>
        <p:spPr>
          <a:xfrm>
            <a:off x="7955280" y="4846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 </a:t>
            </a:r>
            <a:r>
              <a:rPr lang="en-US" sz="1400" b="1" dirty="0" err="1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schlägt</a:t>
            </a: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955280" y="52578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gleicher Temperatur verbrauchen wir im Winter mehr als im Sommer.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Energy-Weather Project  ·  Management Brief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642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  <p:pic>
        <p:nvPicPr>
          <p:cNvPr id="22" name="Grafik 21" descr="The image is a scatter plot showing the relationship between temperature and consumption, with temperature on the x-axis ranging from -10ￂﾰC to 40ￂﾰC and consumption on the y-axis ranging from -10 MWh to 30 MWh.&#10;&#10;KI-generierte Inhalte können fehlerhaft sein.">
            <a:extLst>
              <a:ext uri="{FF2B5EF4-FFF2-40B4-BE49-F238E27FC236}">
                <a16:creationId xmlns:a16="http://schemas.microsoft.com/office/drawing/2014/main" id="{CF0DBFBA-75F2-B4D2-E2AB-3EF35855A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800" y="1774800"/>
            <a:ext cx="6934488" cy="45372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  ·  STOLZPUNKT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Was-wäre-wenn auf Knopfdruck.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passiver Analyse wird ein aktives Entscheidungswerkzeug.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50392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EINSATZBEREICHE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50392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Lastplanung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03920" y="26974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Erwartete Verbräuche pro Region und Tagesstunde simulieren.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03920" y="3429000"/>
            <a:ext cx="32004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14" name="Text 12"/>
          <p:cNvSpPr/>
          <p:nvPr/>
        </p:nvSpPr>
        <p:spPr>
          <a:xfrm>
            <a:off x="850392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Beschaffungsstrategie</a:t>
            </a:r>
            <a:endParaRPr lang="en-US" sz="1400" b="1" dirty="0">
              <a:solidFill>
                <a:srgbClr val="1E3A5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503920" y="3977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Energiemenge bei bestimmten Wetterszenarien abschätzen.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03920" y="4709160"/>
            <a:ext cx="32004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17" name="Text 15"/>
          <p:cNvSpPr/>
          <p:nvPr/>
        </p:nvSpPr>
        <p:spPr>
          <a:xfrm>
            <a:off x="8503920" y="4846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CH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Sensitivitätsanalysen</a:t>
            </a:r>
            <a:endParaRPr lang="en-US" sz="1400" b="1" dirty="0">
              <a:solidFill>
                <a:srgbClr val="1E3A5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503920" y="52578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verändert sich das Tagesprofil, wenn Saison oder Temperatur kippen?</a:t>
            </a:r>
            <a:endParaRPr lang="en-US" sz="1200" dirty="0">
              <a:solidFill>
                <a:srgbClr val="1F293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6172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Slicer-Inputs  ·  ~10 000 vorberechnete Szenarien  ·  Antwort in unter einer Sekunde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Energy-Weather Project  ·  Management Brief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642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  <p:pic>
        <p:nvPicPr>
          <p:cNvPr id="23" name="Grafik 22" descr="The image is a weather and consumption data dashboard displaying seasonal temperatures, daily load profiles, and comparisons between linear regression and random forest models for energy consumption forecasting.&#10;&#10;KI-generierte Inhalte können fehlerhaft sein.">
            <a:extLst>
              <a:ext uri="{FF2B5EF4-FFF2-40B4-BE49-F238E27FC236}">
                <a16:creationId xmlns:a16="http://schemas.microsoft.com/office/drawing/2014/main" id="{76E5E292-7529-043F-2596-445F87B83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235" y="1645920"/>
            <a:ext cx="7042605" cy="453781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8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73152" cy="731520"/>
          </a:xfrm>
          <a:prstGeom prst="rect">
            <a:avLst/>
          </a:prstGeom>
          <a:solidFill>
            <a:srgbClr val="2E7DC1"/>
          </a:solidFill>
          <a:ln w="12700">
            <a:solidFill>
              <a:srgbClr val="2E7DC1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3" name="Text 1"/>
          <p:cNvSpPr/>
          <p:nvPr/>
        </p:nvSpPr>
        <p:spPr>
          <a:xfrm>
            <a:off x="777240" y="548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BCD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wir heute haben, und wohin es geht.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EINSATZBEREIT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Dataset 2015 bis 2025 aufgebaut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Wettereinfluss quantifiziert und belegt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Interaktives Szenario-Tool produktiv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Reproduzierbare Pipeline dokumentiert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E7D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ERWEITERBAR RICHTUNG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269748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Echtzeit-Wetteranbindung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Live-Prognose statt vorberechnet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in Beschaffungsprozesse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Erweiterung auf Industrie- und Feiertagseffekte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6126480"/>
            <a:ext cx="11064240" cy="0"/>
          </a:xfrm>
          <a:prstGeom prst="line">
            <a:avLst/>
          </a:prstGeom>
          <a:noFill/>
          <a:ln w="6350">
            <a:solidFill>
              <a:srgbClr val="2E7DC1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10" name="Text 8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BCD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historischen Verbrauch zur planbaren Zukunft.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8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73152" cy="731520"/>
          </a:xfrm>
          <a:prstGeom prst="rect">
            <a:avLst/>
          </a:prstGeom>
          <a:solidFill>
            <a:srgbClr val="2E7DC1"/>
          </a:solidFill>
          <a:ln w="12700">
            <a:solidFill>
              <a:srgbClr val="2E7DC1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3" name="Text 1"/>
          <p:cNvSpPr/>
          <p:nvPr/>
        </p:nvSpPr>
        <p:spPr>
          <a:xfrm>
            <a:off x="777240" y="548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IT" sz="1200" b="1" kern="0" spc="600" dirty="0">
                <a:solidFill>
                  <a:srgbClr val="BCD4EC"/>
                </a:solidFill>
                <a:latin typeface="Calibri" pitchFamily="34" charset="0"/>
              </a:rPr>
              <a:t>ANHANG</a:t>
            </a:r>
            <a:endParaRPr lang="de-IT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IT" sz="2800" b="1" dirty="0">
                <a:solidFill>
                  <a:srgbClr val="FFFFFF"/>
                </a:solidFill>
                <a:latin typeface="Calibri" pitchFamily="34" charset="0"/>
              </a:rPr>
              <a:t>GitHub Repository</a:t>
            </a:r>
            <a:endParaRPr lang="de-IT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IT" sz="1100" b="1" kern="0" spc="400" dirty="0">
                <a:solidFill>
                  <a:srgbClr val="2E7DC1"/>
                </a:solidFill>
                <a:latin typeface="Calibri" pitchFamily="34" charset="0"/>
              </a:rPr>
              <a:t>REPOSITORY</a:t>
            </a:r>
            <a:endParaRPr lang="de-IT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5303520" cy="14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de-IT" sz="1500" b="1" dirty="0">
                <a:solidFill>
                  <a:srgbClr val="BCD4EC"/>
                </a:solidFill>
                <a:latin typeface="Calibri" pitchFamily="34" charset="0"/>
              </a:rPr>
              <a:t>🔗 </a:t>
            </a:r>
            <a:r>
              <a:rPr lang="de-CH" sz="1500" b="1" dirty="0">
                <a:solidFill>
                  <a:srgbClr val="BCD4EC"/>
                </a:solidFill>
                <a:latin typeface="Calibri" pitchFamily="34" charset="0"/>
              </a:rPr>
              <a:t>https://github.com/17sepdav/energy-weather-project</a:t>
            </a:r>
            <a:endParaRPr lang="de-IT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de-IT" sz="1500" dirty="0">
                <a:solidFill>
                  <a:srgbClr val="FFFFFF"/>
                </a:solidFill>
                <a:latin typeface="Calibri" pitchFamily="34" charset="0"/>
              </a:rPr>
              <a:t>Gesamter Quellcode, Daten und Modelle</a:t>
            </a:r>
            <a:endParaRPr lang="de-IT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de-IT" sz="1500" dirty="0">
                <a:solidFill>
                  <a:srgbClr val="FFFFFF"/>
                </a:solidFill>
                <a:latin typeface="Calibri" pitchFamily="34" charset="0"/>
              </a:rPr>
              <a:t>Reproduzierbare Pipeline &amp; Notebooks</a:t>
            </a:r>
            <a:endParaRPr lang="de-IT" sz="1500" dirty="0"/>
          </a:p>
        </p:txBody>
      </p:sp>
      <p:sp>
        <p:nvSpPr>
          <p:cNvPr id="7" name="Text 5"/>
          <p:cNvSpPr/>
          <p:nvPr/>
        </p:nvSpPr>
        <p:spPr>
          <a:xfrm>
            <a:off x="64008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IT" sz="1100" b="1" kern="0" spc="400" dirty="0">
                <a:solidFill>
                  <a:srgbClr val="2E7DC1"/>
                </a:solidFill>
                <a:latin typeface="Calibri" pitchFamily="34" charset="0"/>
              </a:rPr>
              <a:t>DOKUMENTATION</a:t>
            </a:r>
            <a:endParaRPr lang="de-IT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269748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de-IT" sz="1500" b="1" dirty="0">
                <a:solidFill>
                  <a:srgbClr val="BCD4EC"/>
                </a:solidFill>
                <a:latin typeface="Calibri" pitchFamily="34" charset="0"/>
              </a:rPr>
              <a:t>README.md</a:t>
            </a:r>
            <a:endParaRPr lang="de-IT" sz="1500" dirty="0"/>
          </a:p>
          <a:p>
            <a:pPr marL="685800" indent="-342900">
              <a:spcAft>
                <a:spcPts val="800"/>
              </a:spcAft>
              <a:buSzPct val="100000"/>
              <a:buChar char="–"/>
            </a:pPr>
            <a:r>
              <a:rPr lang="de-IT" sz="1400" dirty="0">
                <a:solidFill>
                  <a:srgbClr val="FFFFFF"/>
                </a:solidFill>
                <a:latin typeface="Calibri" pitchFamily="34" charset="0"/>
              </a:rPr>
              <a:t>Projektbeschreibung, Setup &amp; Quickstart</a:t>
            </a:r>
            <a:endParaRPr lang="de-IT" sz="1400" dirty="0"/>
          </a:p>
          <a:p>
            <a:pPr marL="685800" indent="-342900">
              <a:spcAft>
                <a:spcPts val="1200"/>
              </a:spcAft>
              <a:buSzPct val="100000"/>
              <a:buChar char="–"/>
            </a:pPr>
            <a:r>
              <a:rPr lang="de-IT" sz="1400" dirty="0">
                <a:solidFill>
                  <a:srgbClr val="FFFFFF"/>
                </a:solidFill>
                <a:latin typeface="Calibri" pitchFamily="34" charset="0"/>
              </a:rPr>
              <a:t>Datenquellen, Architektur &amp; Ergebnisse</a:t>
            </a:r>
            <a:endParaRPr lang="de-IT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de-IT" sz="1500" b="1" dirty="0">
                <a:solidFill>
                  <a:srgbClr val="BCD4EC"/>
                </a:solidFill>
                <a:latin typeface="Calibri" pitchFamily="34" charset="0"/>
              </a:rPr>
              <a:t>/documentation</a:t>
            </a:r>
            <a:endParaRPr lang="de-IT" sz="1500" dirty="0"/>
          </a:p>
          <a:p>
            <a:pPr marL="685800" indent="-342900">
              <a:spcAft>
                <a:spcPts val="800"/>
              </a:spcAft>
              <a:buSzPct val="100000"/>
              <a:buChar char="–"/>
            </a:pPr>
            <a:r>
              <a:rPr lang="de-IT" sz="1400" dirty="0" err="1">
                <a:solidFill>
                  <a:srgbClr val="FFFFFF"/>
                </a:solidFill>
                <a:latin typeface="Calibri" pitchFamily="34" charset="0"/>
              </a:rPr>
              <a:t>Detailierte</a:t>
            </a:r>
            <a:r>
              <a:rPr lang="de-IT" sz="1400" dirty="0">
                <a:solidFill>
                  <a:srgbClr val="FFFFFF"/>
                </a:solidFill>
                <a:latin typeface="Calibri" pitchFamily="34" charset="0"/>
              </a:rPr>
              <a:t> </a:t>
            </a:r>
            <a:r>
              <a:rPr lang="de-DE" sz="1400" dirty="0">
                <a:solidFill>
                  <a:srgbClr val="FFFFFF"/>
                </a:solidFill>
                <a:latin typeface="Calibri" pitchFamily="34" charset="0"/>
              </a:rPr>
              <a:t>Beschreibung der Datenverarbeitung</a:t>
            </a:r>
            <a:endParaRPr lang="de-IT" sz="1400" dirty="0"/>
          </a:p>
          <a:p>
            <a:pPr marL="685800" indent="-342900">
              <a:spcAft>
                <a:spcPts val="800"/>
              </a:spcAft>
              <a:buSzPct val="100000"/>
              <a:buChar char="–"/>
            </a:pPr>
            <a:r>
              <a:rPr lang="de-DE" sz="1400" dirty="0">
                <a:solidFill>
                  <a:srgbClr val="FFFFFF"/>
                </a:solidFill>
                <a:latin typeface="Calibri" pitchFamily="34" charset="0"/>
              </a:rPr>
              <a:t>Kurze Übersicht des Dashboards</a:t>
            </a:r>
            <a:endParaRPr lang="de-IT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6126480"/>
            <a:ext cx="11064240" cy="0"/>
          </a:xfrm>
          <a:prstGeom prst="line">
            <a:avLst/>
          </a:prstGeom>
          <a:noFill/>
          <a:ln w="6350">
            <a:solidFill>
              <a:srgbClr val="2E7DC1"/>
            </a:solidFill>
            <a:prstDash val="solid"/>
          </a:ln>
        </p:spPr>
        <p:txBody>
          <a:bodyPr/>
          <a:lstStyle/>
          <a:p>
            <a:endParaRPr lang="de-IT"/>
          </a:p>
        </p:txBody>
      </p:sp>
      <p:sp>
        <p:nvSpPr>
          <p:cNvPr id="10" name="Text 8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IT" sz="1600" i="1" dirty="0">
                <a:solidFill>
                  <a:srgbClr val="BCD4EC"/>
                </a:solidFill>
                <a:latin typeface="Calibri" pitchFamily="34" charset="0"/>
              </a:rPr>
              <a:t>Vollständige Dokumentation auf GitHub verfügbar.</a:t>
            </a:r>
            <a:endParaRPr lang="de-IT" sz="1600" dirty="0"/>
          </a:p>
        </p:txBody>
      </p:sp>
      <p:pic>
        <p:nvPicPr>
          <p:cNvPr id="12" name="Grafik 11" descr="The image depicts a blue cloud with a silhouette of a tall, metallic electricity transmission tower with multiple crossbars.&#10;&#10;KI-generierte Inhalte können fehlerhaft sein.">
            <a:extLst>
              <a:ext uri="{FF2B5EF4-FFF2-40B4-BE49-F238E27FC236}">
                <a16:creationId xmlns:a16="http://schemas.microsoft.com/office/drawing/2014/main" id="{B787811C-2932-1CA3-E41E-9D85F978A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041" y="3975235"/>
            <a:ext cx="2911693" cy="1829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568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3DA0A8F-D56A-4AE6-B4F4-6F75EDC5BD41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108e0159-80d2-4e5b-9416-7df0600334d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469</Words>
  <Application>Microsoft Office PowerPoint</Application>
  <PresentationFormat>Breitbild</PresentationFormat>
  <Paragraphs>108</Paragraphs>
  <Slides>8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Wie das Wetter unseren Stromverbrauch steuert</dc:title>
  <dc:subject>PptxGenJS Presentation</dc:subject>
  <dc:creator>Energy-Weather Project</dc:creator>
  <cp:lastModifiedBy>David Seppi</cp:lastModifiedBy>
  <cp:revision>1</cp:revision>
  <dcterms:created xsi:type="dcterms:W3CDTF">2026-05-15T18:42:37Z</dcterms:created>
  <dcterms:modified xsi:type="dcterms:W3CDTF">2026-05-18T15:11:49Z</dcterms:modified>
</cp:coreProperties>
</file>